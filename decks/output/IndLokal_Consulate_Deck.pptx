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57150" cy="685800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330001" y="1885950"/>
            <a:ext cx="3086100" cy="3086100"/>
          </a:xfrm>
          <a:prstGeom prst="roundRect">
            <a:avLst>
              <a:gd name="adj" fmla="val 2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8885499" y="2540203"/>
            <a:ext cx="987552" cy="1520830"/>
          </a:xfrm>
          <a:prstGeom prst="line">
            <a:avLst/>
          </a:prstGeom>
          <a:ln w="771525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873051" y="2540203"/>
            <a:ext cx="987552" cy="1520830"/>
          </a:xfrm>
          <a:prstGeom prst="line">
            <a:avLst/>
          </a:prstGeom>
          <a:ln w="771525" cap="rnd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1097280"/>
            <a:ext cx="67039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Inter"/>
              </a:rPr>
              <a:t>CONSULATE GENERAL OF INDIA 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6703923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FFFFFF"/>
                </a:solidFill>
                <a:latin typeface="Inter"/>
              </a:rPr>
              <a:t>IndLokal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6703923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CBD5E1"/>
                </a:solidFill>
                <a:latin typeface="Inter"/>
              </a:rPr>
              <a:t>Connecting the Indian community in Germany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52160"/>
            <a:ext cx="67039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5B4FC"/>
                </a:solidFill>
                <a:latin typeface="Inter"/>
              </a:rPr>
              <a:t>indlokal.de  ·  indlokal.com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805586" y="818753"/>
            <a:ext cx="131674" cy="202778"/>
          </a:xfrm>
          <a:prstGeom prst="line">
            <a:avLst/>
          </a:prstGeom>
          <a:ln w="10287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37260" y="818753"/>
            <a:ext cx="131673" cy="202778"/>
          </a:xfrm>
          <a:prstGeom prst="line">
            <a:avLst/>
          </a:prstGeom>
          <a:ln w="102870" cap="rnd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80160" y="749808"/>
            <a:ext cx="2286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312E81"/>
                </a:solidFill>
                <a:latin typeface="Inter"/>
              </a:rPr>
              <a:t>IndLokal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9445751" y="1005839"/>
            <a:ext cx="502921" cy="45721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948672" y="777240"/>
            <a:ext cx="502919" cy="228599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451591" y="777240"/>
            <a:ext cx="502920" cy="228599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954511" y="1005839"/>
            <a:ext cx="502920" cy="45721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1417320"/>
            <a:ext cx="10725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Inter"/>
              </a:rPr>
              <a:t>WHY THIS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91640"/>
            <a:ext cx="1072591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E293B"/>
                </a:solidFill>
                <a:latin typeface="Inter"/>
              </a:rPr>
              <a:t>Fragmented information for new arrivals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97480"/>
            <a:ext cx="5486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0"/>
            <a:ext cx="1072591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Inter"/>
              </a:rPr>
              <a:t>250,000+ Indians in Germany (Destatis 2024). Fastest-growing third-country migration. New arrivals rely on WhatsApp, Facebook, word of mouth. No single trusted, multilingual, city-specific source.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805586" y="818753"/>
            <a:ext cx="131674" cy="202778"/>
          </a:xfrm>
          <a:prstGeom prst="line">
            <a:avLst/>
          </a:prstGeom>
          <a:ln w="10287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37260" y="818753"/>
            <a:ext cx="131673" cy="202778"/>
          </a:xfrm>
          <a:prstGeom prst="line">
            <a:avLst/>
          </a:prstGeom>
          <a:ln w="102870" cap="rnd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80160" y="749808"/>
            <a:ext cx="2286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312E81"/>
                </a:solidFill>
                <a:latin typeface="Inter"/>
              </a:rPr>
              <a:t>IndLokal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9445751" y="1005839"/>
            <a:ext cx="502921" cy="45721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948672" y="777240"/>
            <a:ext cx="502919" cy="228599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451591" y="777240"/>
            <a:ext cx="502920" cy="228599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954511" y="1005839"/>
            <a:ext cx="502920" cy="45721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1417320"/>
            <a:ext cx="10725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Inter"/>
              </a:rPr>
              <a:t>WHAT IS INDLOKAL?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91640"/>
            <a:ext cx="1072591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E293B"/>
                </a:solidFill>
                <a:latin typeface="Inter"/>
              </a:rPr>
              <a:t>A digital integration platform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97480"/>
            <a:ext cx="5486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0"/>
            <a:ext cx="1072591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Inter"/>
              </a:rPr>
              <a:t>Curated, multilingual directory of verified Indian communities, events, and resources. Mobile-first, privacy-friendly, non-profit in formation. Built by two India-origin founders in Stuttgart region.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08792" y="7315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11007547" y="847831"/>
            <a:ext cx="175565" cy="270370"/>
          </a:xfrm>
          <a:prstGeom prst="line">
            <a:avLst/>
          </a:prstGeom>
          <a:ln w="13716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83112" y="847831"/>
            <a:ext cx="175564" cy="270370"/>
          </a:xfrm>
          <a:prstGeom prst="line">
            <a:avLst/>
          </a:prstGeom>
          <a:ln w="137160" cap="rnd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2606040"/>
            <a:ext cx="107259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Inter"/>
              </a:rPr>
              <a:t>PRODUCT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1072591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1">
                <a:solidFill>
                  <a:srgbClr val="FFFFFF"/>
                </a:solidFill>
                <a:latin typeface="Inter"/>
              </a:rPr>
              <a:t>Screenshots: iOS, Android, Web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805586" y="818753"/>
            <a:ext cx="131674" cy="202778"/>
          </a:xfrm>
          <a:prstGeom prst="line">
            <a:avLst/>
          </a:prstGeom>
          <a:ln w="10287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37260" y="818753"/>
            <a:ext cx="131673" cy="202778"/>
          </a:xfrm>
          <a:prstGeom prst="line">
            <a:avLst/>
          </a:prstGeom>
          <a:ln w="102870" cap="rnd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80160" y="749808"/>
            <a:ext cx="2286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312E81"/>
                </a:solidFill>
                <a:latin typeface="Inter"/>
              </a:rPr>
              <a:t>IndLokal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9445751" y="1005839"/>
            <a:ext cx="502921" cy="45721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948672" y="777240"/>
            <a:ext cx="502919" cy="228599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451591" y="777240"/>
            <a:ext cx="502920" cy="228599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954511" y="1005839"/>
            <a:ext cx="502920" cy="45721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1417320"/>
            <a:ext cx="10725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Inter"/>
              </a:rP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91640"/>
            <a:ext cx="1072591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E293B"/>
                </a:solidFill>
                <a:latin typeface="Inter"/>
              </a:rPr>
              <a:t>Discover events, communities, resources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97480"/>
            <a:ext cx="5486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0"/>
            <a:ext cx="1072591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Inter"/>
              </a:rPr>
              <a:t>[Insert 3–4 screenshots: Home feed, Event detail, Community, Resources. Captions: 'Upcoming events', 'Community detail', 'Multilingual resources', 'Submit an event']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805586" y="818753"/>
            <a:ext cx="131674" cy="202778"/>
          </a:xfrm>
          <a:prstGeom prst="line">
            <a:avLst/>
          </a:prstGeom>
          <a:ln w="10287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37260" y="818753"/>
            <a:ext cx="131673" cy="202778"/>
          </a:xfrm>
          <a:prstGeom prst="line">
            <a:avLst/>
          </a:prstGeom>
          <a:ln w="102870" cap="rnd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80160" y="749808"/>
            <a:ext cx="2286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312E81"/>
                </a:solidFill>
                <a:latin typeface="Inter"/>
              </a:rPr>
              <a:t>IndLokal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9445751" y="1005839"/>
            <a:ext cx="502921" cy="45721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948672" y="777240"/>
            <a:ext cx="502919" cy="228599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451591" y="777240"/>
            <a:ext cx="502920" cy="228599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954511" y="1005839"/>
            <a:ext cx="502920" cy="45721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1417320"/>
            <a:ext cx="10725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Inter"/>
              </a:rPr>
              <a:t>2026 ROLLOUT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91640"/>
            <a:ext cx="1072591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E293B"/>
                </a:solidFill>
                <a:latin typeface="Inter"/>
              </a:rPr>
              <a:t>Stuttgart anchor, national arc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97480"/>
            <a:ext cx="5486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0"/>
            <a:ext cx="1072591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Inter"/>
              </a:rPr>
              <a:t>Stuttgart anchor (months 0–3). Munich beta-live months 1–3. Frankfurt beta-live months 3–6. 6–8 metros by month 12. AI-assisted ingestion + city-agnostic platform = fast, scalable expansion. Partnership conversations run in parallel.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805586" y="818753"/>
            <a:ext cx="131674" cy="202778"/>
          </a:xfrm>
          <a:prstGeom prst="line">
            <a:avLst/>
          </a:prstGeom>
          <a:ln w="10287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37260" y="818753"/>
            <a:ext cx="131673" cy="202778"/>
          </a:xfrm>
          <a:prstGeom prst="line">
            <a:avLst/>
          </a:prstGeom>
          <a:ln w="102870" cap="rnd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80160" y="749808"/>
            <a:ext cx="2286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312E81"/>
                </a:solidFill>
                <a:latin typeface="Inter"/>
              </a:rPr>
              <a:t>IndLokal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9445751" y="1005839"/>
            <a:ext cx="502921" cy="45721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948672" y="777240"/>
            <a:ext cx="502919" cy="228599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451591" y="777240"/>
            <a:ext cx="502920" cy="228599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954511" y="1005839"/>
            <a:ext cx="502920" cy="45721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1417320"/>
            <a:ext cx="10725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Inter"/>
              </a:rPr>
              <a:t>HOW THE CONSULATE CAN HELP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91640"/>
            <a:ext cx="1072591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E293B"/>
                </a:solidFill>
                <a:latin typeface="Inter"/>
              </a:rPr>
              <a:t>What we seek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97480"/>
            <a:ext cx="5486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0"/>
            <a:ext cx="10725912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504"/>
              </a:spcAft>
            </a:pPr>
            <a:r>
              <a:rPr sz="1600" b="1">
                <a:solidFill>
                  <a:srgbClr val="F59E0B"/>
                </a:solidFill>
                <a:latin typeface="Inter"/>
              </a:rPr>
              <a:t>▎ </a:t>
            </a:r>
            <a:r>
              <a:rPr sz="1600">
                <a:solidFill>
                  <a:srgbClr val="1E293B"/>
                </a:solidFill>
                <a:latin typeface="Inter"/>
              </a:rPr>
              <a:t>Letter of support (relevance to Indian community)</a:t>
            </a:r>
          </a:p>
          <a:p>
            <a:pPr algn="l">
              <a:lnSpc>
                <a:spcPct val="135000"/>
              </a:lnSpc>
              <a:spcAft>
                <a:spcPts val="504"/>
              </a:spcAft>
            </a:pPr>
            <a:r>
              <a:rPr sz="1600" b="1">
                <a:solidFill>
                  <a:srgbClr val="F59E0B"/>
                </a:solidFill>
                <a:latin typeface="Inter"/>
              </a:rPr>
              <a:t>▎ </a:t>
            </a:r>
            <a:r>
              <a:rPr sz="1600">
                <a:solidFill>
                  <a:srgbClr val="1E293B"/>
                </a:solidFill>
                <a:latin typeface="Inter"/>
              </a:rPr>
              <a:t>Cross-listing of Consulate events (OCI/passport camps, festivals, advisories)</a:t>
            </a:r>
          </a:p>
          <a:p>
            <a:pPr algn="l">
              <a:lnSpc>
                <a:spcPct val="135000"/>
              </a:lnSpc>
              <a:spcAft>
                <a:spcPts val="504"/>
              </a:spcAft>
            </a:pPr>
            <a:r>
              <a:rPr sz="1600" b="1">
                <a:solidFill>
                  <a:srgbClr val="F59E0B"/>
                </a:solidFill>
                <a:latin typeface="Inter"/>
              </a:rPr>
              <a:t>▎ </a:t>
            </a:r>
            <a:r>
              <a:rPr sz="1600">
                <a:solidFill>
                  <a:srgbClr val="1E293B"/>
                </a:solidFill>
                <a:latin typeface="Inter"/>
              </a:rPr>
              <a:t>Named point of contact for ongoing coordination</a:t>
            </a:r>
          </a:p>
          <a:p>
            <a:pPr algn="l">
              <a:lnSpc>
                <a:spcPct val="135000"/>
              </a:lnSpc>
              <a:spcAft>
                <a:spcPts val="504"/>
              </a:spcAft>
            </a:pPr>
            <a:r>
              <a:rPr sz="1600" b="1">
                <a:solidFill>
                  <a:srgbClr val="F59E0B"/>
                </a:solidFill>
                <a:latin typeface="Inter"/>
              </a:rPr>
              <a:t>▎ </a:t>
            </a:r>
            <a:r>
              <a:rPr sz="1600">
                <a:solidFill>
                  <a:srgbClr val="1E293B"/>
                </a:solidFill>
                <a:latin typeface="Inter"/>
              </a:rPr>
              <a:t>(Optional) Guidance on ICCR/MEA/Pravasi Bharatiya funding channels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805586" y="818753"/>
            <a:ext cx="131674" cy="202778"/>
          </a:xfrm>
          <a:prstGeom prst="line">
            <a:avLst/>
          </a:prstGeom>
          <a:ln w="10287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37260" y="818753"/>
            <a:ext cx="131673" cy="202778"/>
          </a:xfrm>
          <a:prstGeom prst="line">
            <a:avLst/>
          </a:prstGeom>
          <a:ln w="102870" cap="rnd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80160" y="749808"/>
            <a:ext cx="2286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312E81"/>
                </a:solidFill>
                <a:latin typeface="Inter"/>
              </a:rPr>
              <a:t>IndLokal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9445751" y="1005839"/>
            <a:ext cx="502921" cy="45721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948672" y="777240"/>
            <a:ext cx="502919" cy="228599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451591" y="777240"/>
            <a:ext cx="502920" cy="228599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954511" y="1005839"/>
            <a:ext cx="502920" cy="45721"/>
          </a:xfrm>
          <a:prstGeom prst="line">
            <a:avLst/>
          </a:prstGeom>
          <a:ln w="15875">
            <a:solidFill>
              <a:srgbClr val="4F46E5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1417320"/>
            <a:ext cx="10725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Inter"/>
              </a:rPr>
              <a:t>CONTACT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91640"/>
            <a:ext cx="1072591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E293B"/>
                </a:solidFill>
                <a:latin typeface="Inter"/>
              </a:rPr>
              <a:t>IndLokal Founders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97480"/>
            <a:ext cx="54864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0"/>
            <a:ext cx="1072591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Inter"/>
              </a:rPr>
              <a:t>Jaya Prakash Jain (Sindelfingen) · Dhiraj Shah (Waiblingen)</a:t>
            </a:r>
          </a:p>
          <a:p>
            <a:pPr algn="l"/>
            <a:r>
              <a:rPr sz="1600" b="0">
                <a:solidFill>
                  <a:srgbClr val="1E293B"/>
                </a:solidFill>
                <a:latin typeface="Inter"/>
              </a:rPr>
              <a:t>hello@indlokal.de · indlokal.de ·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