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32223" y="1885950"/>
            <a:ext cx="3086100" cy="308610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887721" y="2540203"/>
            <a:ext cx="987552" cy="1520830"/>
          </a:xfrm>
          <a:prstGeom prst="line">
            <a:avLst/>
          </a:prstGeom>
          <a:ln w="771525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5273" y="2540203"/>
            <a:ext cx="987552" cy="1520830"/>
          </a:xfrm>
          <a:prstGeom prst="line">
            <a:avLst/>
          </a:prstGeom>
          <a:ln w="771525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097280"/>
            <a:ext cx="6705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INTEGRATION THROUGH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6705432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Helping new Indian arrivals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find community in Germany.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670543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CBD5E1"/>
                </a:solidFill>
                <a:latin typeface="Inter"/>
              </a:rPr>
              <a:t>A digital integration infrastructure for one of Germany's fastest-growing migrant populations — starting with a 12-month Stuttgart pilot.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6705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5B4FC"/>
                </a:solidFill>
                <a:latin typeface="Inter"/>
              </a:rPr>
              <a:t>indlokal.de  ·  indlokal.com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THE INTEGRATION GAP WE 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New arrivals can't find what already exists in their city.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210,000 Indians live in Germany today — +22% YoY, the country's fastest-growing third-country migration cohort (Destatis 2024).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70% are concentrated in the top 10 metros, but information about local communities, cultural events, and trusted services is fragmented across closed WhatsApp groups, expired Facebook pages, and word-of-mouth.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Public Welcome Centers and Integrationsbeauftragte have generic resources — not the city-specific, community-curated layer a newcomer actually uses in their first 90 days.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Result: longer isolation, slower social integration, lower civic participation, and weaker bridges to existing local infrastructure (libraries, Volkshochschule, sports clubs, religious institutions).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POLICY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Aligned with three German integration priorities.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3393338" cy="274320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Skilled migration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41648"/>
            <a:ext cx="2991002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Fachkräftezuwanderungsgesetz attracts talent; integration outcomes determine whether they stay. Information access in the first 90 days is the strongest non-economic predictor.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9178" y="3017520"/>
            <a:ext cx="3393338" cy="274320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0346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346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Civic participation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0346" y="4041648"/>
            <a:ext cx="2991002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BAMF and Land integration plans prioritise migrant participation in local civic life. Discoverability of community organisations is a precondition.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6836" y="3017520"/>
            <a:ext cx="3393338" cy="274320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8004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8004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Digital integration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8004" y="4041648"/>
            <a:ext cx="2991002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EU Digital Decade and AMIF emphasise digital tools that lower the access barrier to integration services. Existing platforms are language- and culture-agnostic by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A city-first, community-curated discovery layer.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Communities: every Indian association, religious group, language circle, sports club, alumni network in the city — listed, verified, contactable.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Events: cultural, civic, professional, integration-relevant — surfaced fresh, in one place, with calendar and notification.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Resources: city-specific guides for the first 90 days — Anmeldung, banking, healthcare, schooling, language courses, legal aid — cross-linked to official Welcome Center material.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Mobile-first, German + English (Hindi/Tamil/Telugu progressive), open-data partnerships with public bodies, designed for the user — not for ad inventory.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STATUS TODAY — HONEST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The platform is built. The launch and the human layer are what we are funding.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Web app indlokal.de + native iOS/Android apps: development complete, in private beta. Soft public launch planned within ~4 weeks.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Backend with verified communities, events and resources schema; multi-language ready (DE/EN, Hindi/Tamil/Telugu).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AI-assisted ingestion to surface new community events from public sources, with human editorial review.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Brand, design system, content guidelines and accessibility baseline (WCAG AA) in place.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Built end-to-end and self-funded by the two founders to date. No external capital raised. No revenue yet — by design, until the gemeinnützig structure is in place.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Legal entity: gemeinnützige UG / gGmbH in formation in parallel with the application process — expected closing within the grant decision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WHY STUTTGART FOR THE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The right city, the right size, the right policy infrastructure.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181447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4779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4779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Right population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41648"/>
            <a:ext cx="4779111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~17,000 Indian residents (Stadt Stuttgart 2024)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Disproportionately recent arrivals (skilled workers, families, students)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Strong sub-community structure (Tamil, Telugu, Gujarati, Punjabi, Malayali, Kannada)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Founder team is locally embedded — not parachuting 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017520"/>
            <a:ext cx="5181447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3218688"/>
            <a:ext cx="4779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3630168"/>
            <a:ext cx="4779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Right institutional fabric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4041648"/>
            <a:ext cx="4779111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Stadt Stuttgart Welcome Center &amp; Integrationsbeauftragte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Baden-Württemberg integration plan with funding mandate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IHK Region Stuttgart Fachkräfte initiative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Universities Stuttgart + Hohenheim + HFT (large Indian student cohort)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Active Indo-German Chamber sub-region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PILOT SCOPE — 12 MONTHS, STUTTGART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Concrete deliverables across content, partnerships, and evaluation.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30+ verified Indian community organisations onboarded and self-publishing in Stuttgart (we have manually identified ~40 candidates today).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150+ city-specific resources curated, of which 60+ professionally translated (DE/EN, key items in Hindi/Tamil/Telugu; remainder community-volunteer-translated with editorial review).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12 monthly community newsletters; 4 in-person partner roundtables.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Letter of Support and active liaison with at least 3 public partners: Stadt Stuttgart Welcome Center, IHK Stuttgart, one university international office.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Quarterly impact reports + final independent evaluation by a confirmed external research partner.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11535" y="731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1010290" y="847831"/>
            <a:ext cx="175565" cy="270370"/>
          </a:xfrm>
          <a:prstGeom prst="line">
            <a:avLst/>
          </a:prstGeom>
          <a:ln w="13716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85855" y="847831"/>
            <a:ext cx="175564" cy="270370"/>
          </a:xfrm>
          <a:prstGeom prst="line">
            <a:avLst/>
          </a:prstGeom>
          <a:ln w="13716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6060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MEASURABLE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72865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Inter"/>
              </a:rPr>
              <a:t>KPIs we will report quarterly.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PILOT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Six measurable outcomes — reach, discovery, participation, equity, trust, sustainability.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3393338" cy="15544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41648"/>
            <a:ext cx="2991002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Active monthly users in Stuttgart.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Target: 1,500–2,500 MAU by month 12 (~10–15% penetration).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Stretch: 4,000 MAU. Baseline: 0, measured monthly.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9178" y="3017520"/>
            <a:ext cx="3393338" cy="15544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0346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346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0346" y="4041648"/>
            <a:ext cx="2991002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30+ community organisations listed.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20+ events / month surfaced (Q4 run-rate).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150+ resources curated; 60+ professionally translated.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6836" y="3017520"/>
            <a:ext cx="3393338" cy="15544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8004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8004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Participation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8004" y="4041648"/>
            <a:ext cx="2991002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% of MAU who RSVP to ≥1 community event per quarter.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Target: 25% by Q4. Measurable from in-app analytics.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09160"/>
            <a:ext cx="3393338" cy="15544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91032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32180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Information equity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733288"/>
            <a:ext cx="2991002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% of users with primary language ≠ German.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% of users self-reported &lt;12mo in Germany.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Geographic spread across Stuttgart districts.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99178" y="4709160"/>
            <a:ext cx="3393338" cy="15544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0346" y="491032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0346" y="532180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Trust &amp;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0346" y="5733288"/>
            <a:ext cx="2991002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Quarterly partner survey (NPS-style) with public + community partners.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In-app user feedback on resource accuracy.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6836" y="4709160"/>
            <a:ext cx="3393338" cy="15544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8004" y="491032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8004" y="532180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Path to sustainability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8004" y="5733288"/>
            <a:ext cx="2991002" cy="329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2–3 revenue-paying local partners by month 12 as a sustainability signal.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Aim: blended model (grant + modest local revenue) post-pilot.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PARTNERSHIP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We deliver with partners, not around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3393338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Public 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41648"/>
            <a:ext cx="2991002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Stadt Stuttgart — Welcome Center, Integrationsbeauftragte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Land BW — Ministerium für Soziales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BAMF regional office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IHK Region Stuttgart — Fachkräfte initiative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Volkshochschule Stuttgart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9178" y="3017520"/>
            <a:ext cx="3393338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0346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346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Diplomatic &amp; academic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0346" y="4041648"/>
            <a:ext cx="2991002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Consulate General of India, Munich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Indo-German Chamber of Commerce (IGCC)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DAAD regional office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University of Stuttgart international office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Hochschule für Technik Stuttgart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6836" y="3017520"/>
            <a:ext cx="3393338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8004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8004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Community &amp; 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8004" y="4041648"/>
            <a:ext cx="2991002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Tamil, Telugu, Gujarati, Punjabi, Malayali and Kannada associations in Stuttgart and Region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Cultural and religious institutions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Target evaluation partners: chair at Uni Stuttgart / Hochschule Esslingen, or freelance evaluation consultant; ifo / BAMF-FZ as research-link aspirations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Engagement status: target architecture, formal LoIs collected during Q1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11535" y="731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1010290" y="847831"/>
            <a:ext cx="175565" cy="270370"/>
          </a:xfrm>
          <a:prstGeom prst="line">
            <a:avLst/>
          </a:prstGeom>
          <a:ln w="13716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85855" y="847831"/>
            <a:ext cx="175564" cy="270370"/>
          </a:xfrm>
          <a:prstGeom prst="line">
            <a:avLst/>
          </a:prstGeom>
          <a:ln w="13716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6060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FUNDING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72865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Inter"/>
              </a:rPr>
              <a:t>Three tiers. One pilot. Non-dilutive.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FUNDING ASK — NON-DILUTIVE, SCOPED TO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Three transparent tiers — each delivers a defined milestone.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3393338" cy="320040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€85,000 — Stuttgart anchor (12mo)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41648"/>
            <a:ext cx="2991002" cy="1975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Lean Stuttgart-only build. Same KPIs at slightly lower targets.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Deliverables: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20 communities, 100 resources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1,000–1,500 MAU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Lean evaluation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Best fit: foundation discretionary funds, BW Stiftung small grants.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9178" y="3017520"/>
            <a:ext cx="3393338" cy="320040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0346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346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€150,000 — Stuttgart deep + Munich/Frankfurt light (12mo)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0346" y="4041648"/>
            <a:ext cx="2991002" cy="1975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Recommended ask. Stuttgart anchor + Munich and Frankfurt beta-live.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Deliverables: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All Stuttgart KPIs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Munich + Frankfurt beta in months 1–6 (10–25 communities each)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3 public-sector LoS; Consulate endorsements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Independent evaluation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Best fit: AMIF, BW Stiftung, Mercator, Bosch.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6836" y="3017520"/>
            <a:ext cx="3393338" cy="320040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8004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8004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€250,000 — 6–8 German metros (12mo)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8004" y="4041648"/>
            <a:ext cx="2991002" cy="19751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National arc. Stuttgart, Munich, Frankfurt anchored; Berlin, Hamburg, Düsseldorf beta.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Deliverables: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All Stuttgart + Munich + Frankfurt KPIs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6–8 metros operating by month 12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Per-city playbook + replication study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Best fit: AMIF national programme, Mercator/Bosch multi-year.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BUDGET ALLOCATION — €150K / 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Where the money goes.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2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Personnel — 55% (€82k): one programme lead at 50% FTE (≈€45k loaded) plus two part-time community editors at 12h/wk each (≈€37k loaded), based on TVL-equivalent rates.</a:t>
            </a:r>
          </a:p>
          <a:p>
            <a:pPr algn="l">
              <a:lnSpc>
                <a:spcPct val="135000"/>
              </a:lnSpc>
              <a:spcAft>
                <a:spcPts val="32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Translation &amp; accessibility — 13% (€20k): professional translation Hindi/Tamil/Telugu for 60+ priority resources, WCAG AA accessibility audit, language tooling. Engineering itself is in-kind from founders.</a:t>
            </a:r>
          </a:p>
          <a:p>
            <a:pPr algn="l">
              <a:lnSpc>
                <a:spcPct val="135000"/>
              </a:lnSpc>
              <a:spcAft>
                <a:spcPts val="32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Community &amp; content operations — 12% (€18k): community partner stipends, in-person partner roundtables, event co-financing, content production.</a:t>
            </a:r>
          </a:p>
          <a:p>
            <a:pPr algn="l">
              <a:lnSpc>
                <a:spcPct val="135000"/>
              </a:lnSpc>
              <a:spcAft>
                <a:spcPts val="32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Independent evaluation — 10% (€15k): freelance evaluation consultant or university chair, survey instruments, quarterly + final reports.</a:t>
            </a:r>
          </a:p>
          <a:p>
            <a:pPr algn="l">
              <a:lnSpc>
                <a:spcPct val="135000"/>
              </a:lnSpc>
              <a:spcAft>
                <a:spcPts val="32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Communications &amp; business development — 7% (€10k): bilingual communications, partner co-branding, public-sector liaison, modest BD effort toward 2–3 paying partners.</a:t>
            </a:r>
          </a:p>
          <a:p>
            <a:pPr algn="l">
              <a:lnSpc>
                <a:spcPct val="135000"/>
              </a:lnSpc>
              <a:spcAft>
                <a:spcPts val="32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Administration &amp; overhead — 3% (€5k): legal entity overhead allocated to project (gUG/gGmbH in formation), audit, reporting.</a:t>
            </a:r>
          </a:p>
          <a:p>
            <a:pPr algn="l">
              <a:lnSpc>
                <a:spcPct val="135000"/>
              </a:lnSpc>
              <a:spcAft>
                <a:spcPts val="32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Lean €85k variant: drop the 2nd editor (–€18k), halve translation (–€10k), trim ops &amp; comms (–€15k), keep evaluation lean (–€7k). Same KPIs, slightly lower targets (1,000 MAU, 20 communities, 100 resources).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12-MONTH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Phased delivery with quarterly reporting.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2545003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21426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21426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Q1 — Anchor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41648"/>
            <a:ext cx="214266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Stuttgart soft launch (month 0–1)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LoS pipeline live: Stadt Stuttgart, Consulates Munich + Frankfurt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First 10–15 communities onboarded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KPI instrumentation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59403" y="3017520"/>
            <a:ext cx="2545003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60571" y="3218688"/>
            <a:ext cx="21426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0571" y="3630168"/>
            <a:ext cx="21426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Q2 — Multi-city beta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0571" y="4041648"/>
            <a:ext cx="214266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Munich beta-live (10–15 communities)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Stuttgart hits 25+ communities, 100 resources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First foundation cheque banked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Quarterly impact report #1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017520"/>
            <a:ext cx="2545003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8455" y="3218688"/>
            <a:ext cx="21426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8455" y="3630168"/>
            <a:ext cx="21426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Q3 — Frankfurt +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8455" y="4041648"/>
            <a:ext cx="214266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Frankfurt beta-live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AMIF / ESF+ BW application submitted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First paid sponsored listing as sustainability proof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Quarterly impact report #2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171" y="3017520"/>
            <a:ext cx="2545003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6339" y="3218688"/>
            <a:ext cx="21426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339" y="3630168"/>
            <a:ext cx="21426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Q4 — National arc + 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339" y="4041648"/>
            <a:ext cx="214266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Berlin + Hamburg beta-live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6–8 metros operating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Independent evaluation + final impact report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Year-2 plan + replication readiness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SUSTAINABILITY BEYOND THE GRANT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Built to outlast the funding cycle — not a perpetual donor case.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Long-term, the platform is intended to combine non-grant revenue (sponsored business listings, city sponsors) with grant funding for the public-good content layer. This is the intended model — not yet validated.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The grant funds what the market alone will not: launch and first-year operation, multi-language translation, public-sector integration, accessibility, and rigorous evaluation.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By month 12 the Stuttgart operation aims to have begun generating modest local-business revenue (target: 2–3 paying partners) as a sustainability signal — not yet as significant income.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Replication to other German cities can therefore over time become partially self-funded, reducing public-funding intensity per city.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We are not building a permanent NGO. We are building integration infrastructure that aims to pay its own way once content density is reached.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IMPACT 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Independent, mixed-method evaluation built in from day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4779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4779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Quantitative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41648"/>
            <a:ext cx="4779111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Monthly KPI dashboard, public-facing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Quarterly cohort analysis (new arrivals ≤ 12 months)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Geographic and demographic spread within Stuttgart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Partner-side metrics (events surfaced, resources translated)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01752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3218688"/>
            <a:ext cx="4779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3630168"/>
            <a:ext cx="4779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Qualitative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4041648"/>
            <a:ext cx="4779111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Two structured user-research waves (mid-pilot, end-pilot)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Partner stakeholder interviews (Welcome Center, community leads)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Independent evaluation by a confirmed freelance consultant or university chair (target partners: ifo / BAMF-FZ where capacity allows)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· Final report public and machine-readable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WHO DELIVERS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Two founders, locally embedded, with the product already shipped.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4779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4779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Founder 1 — Programme &amp; 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41648"/>
            <a:ext cx="4779111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Built the platform end-to-end (web, mobile, backend, AI ingestion). Stuttgart-based. Will own the technology, accessibility, multi-language rollout, and evaluation data infrastructure for the pilot.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017520"/>
            <a:ext cx="5181447" cy="29260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3218688"/>
            <a:ext cx="47791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3630168"/>
            <a:ext cx="4779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Founder 2 — Community &amp;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4041648"/>
            <a:ext cx="4779111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Leads community sourcing, public-sector partnerships, and on-the-ground delivery. Will personally onboard the first 50 community organisations and open partnerships with Stadt Stuttgart, IHK, and the Indian Consulate.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79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Pilot adds: one part-time programme coordinator (Stuttgart-resident, bilingual) and an external research partner. No engineering hire required — platform is built.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849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5141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4335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7255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FUNDER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Where this project fits each programme.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3393338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Stadt Stuttgart Integrationsfonds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41648"/>
            <a:ext cx="2991002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First-yes funder. Direct fit with Stadt Stuttgart's Welcome Center and Integrationsbeauftragte mandate. Hyper-local, fast cycle, builds the track record the larger funders look for.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9178" y="3017520"/>
            <a:ext cx="3393338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0346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346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AMIF (EU) &amp; ESF+ Baden-Württemberg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0346" y="4041648"/>
            <a:ext cx="2991002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AMIF Specific Objective: integration of legally residing TCNs. ESF+ BW: social inclusion, civic participation, digital access. Multi-language + public-sector partnership architecture is a textbook fit for both.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6836" y="3017520"/>
            <a:ext cx="3393338" cy="310896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8004" y="3218688"/>
            <a:ext cx="299100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Inter"/>
              </a:rPr>
              <a:t>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8004" y="3630168"/>
            <a:ext cx="299100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Inter"/>
              </a:rPr>
              <a:t>Mercator, Bosch &amp; BW Stiftung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8004" y="4041648"/>
            <a:ext cx="2991002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Migration, social cohesion, digital public infrastructure, evidence-based evaluation. Independent evaluation partner (BAMF-FZ / ifo) makes this attractive for foundation programme officers.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30275" y="847831"/>
            <a:ext cx="175565" cy="270370"/>
          </a:xfrm>
          <a:prstGeom prst="line">
            <a:avLst/>
          </a:prstGeom>
          <a:ln w="13716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847831"/>
            <a:ext cx="175564" cy="270370"/>
          </a:xfrm>
          <a:prstGeom prst="line">
            <a:avLst/>
          </a:prstGeom>
          <a:ln w="13716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17320" y="7955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Inter"/>
              </a:rPr>
              <a:t>IndLokal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72865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Make Indian life in Stuttgart</a:t>
            </a:r>
          </a:p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visible, fresh, and easy to join.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CBD5E1"/>
                </a:solidFill>
                <a:latin typeface="Inter"/>
              </a:rPr>
              <a:t>€85k lean · €150k full · €250k Region Stuttgart  —  12 months · 30+ communities · 150 resources · 1,500–2,500 active monthly users · independent evaluation.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E7FF"/>
                </a:solidFill>
                <a:latin typeface="Inter"/>
              </a:rPr>
              <a:t>indlokal.de  ·  indlokal.com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21808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E7FF"/>
                </a:solidFill>
                <a:latin typeface="Inter"/>
              </a:rPr>
              <a:t>hello@indlokal.de   ·   @indlokal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14416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0E7FF"/>
                </a:solidFill>
                <a:latin typeface="Inter"/>
              </a:rPr>
              <a:t>Founding team based in Stuttgart, Baden-Württemberg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